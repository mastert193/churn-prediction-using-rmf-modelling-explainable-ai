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72" r:id="rId4"/>
    <p:sldId id="267" r:id="rId5"/>
    <p:sldId id="271" r:id="rId6"/>
    <p:sldId id="287" r:id="rId7"/>
    <p:sldId id="268" r:id="rId8"/>
    <p:sldId id="276" r:id="rId9"/>
    <p:sldId id="275" r:id="rId10"/>
    <p:sldId id="263" r:id="rId11"/>
    <p:sldId id="274" r:id="rId12"/>
    <p:sldId id="278" r:id="rId13"/>
    <p:sldId id="284" r:id="rId14"/>
    <p:sldId id="285" r:id="rId15"/>
    <p:sldId id="286" r:id="rId16"/>
    <p:sldId id="283" r:id="rId17"/>
    <p:sldId id="269" r:id="rId18"/>
    <p:sldId id="288" r:id="rId19"/>
    <p:sldId id="289" r:id="rId20"/>
    <p:sldId id="290" r:id="rId21"/>
    <p:sldId id="291" r:id="rId22"/>
    <p:sldId id="292" r:id="rId23"/>
    <p:sldId id="26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76DD-1367-4F7B-9F9C-0B308FF2D542}" type="datetime1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02F32-7873-4EC3-B44A-C3339B1A5D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46038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59FA1-0241-4386-B9F3-AE5F3A61A4A7}" type="datetime1">
              <a:rPr lang="en-IN" smtClean="0"/>
              <a:t>15-11-2025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66E33-0C88-4211-9C3A-5E241118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070679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B240D3BD-6526-425B-BA9F-B60BD7848CF2}" type="datetime1">
              <a:rPr lang="en-IN" smtClean="0"/>
              <a:t>15-11-2025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66E33-0C88-4211-9C3A-5E241118C80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726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66E33-0C88-4211-9C3A-5E241118C80B}" type="slidenum">
              <a:rPr lang="en-IN" smtClean="0"/>
              <a:t>4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E9B7091-69C5-4CF7-8416-770ACF6B387E}" type="datetime1">
              <a:rPr lang="en-IN" smtClean="0"/>
              <a:t>15-11-2025</a:t>
            </a:fld>
            <a:endParaRPr lang="en-IN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797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81D5-CF34-CCED-56D1-356F6AD1A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19A67-3B65-A269-B4BF-DDA2538F2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39BFB-947A-E265-6EB2-7D4FD690D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3E18C7E-0788-2516-3045-6E499A195EE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ED743-4769-DBA3-7FEB-E86B7106759B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009B7CF-ACB9-42FE-8ABE-B862F050372E}" type="datetime1">
              <a:rPr lang="en-IN" smtClean="0"/>
              <a:t>15-11-2025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39D14-8E2C-F815-D537-FE9D584E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66E33-0C88-4211-9C3A-5E241118C80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94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47B89-7F2F-467E-EBEB-27A3D8F15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57E54-DAB2-091A-A8D3-272E876BE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E6FC2-8BA3-BD52-91ED-7C8348D2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9B17CD6-9F28-E341-90FF-E12471478FC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574AC-BF17-671B-706D-70F5B9938FD4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009B7CF-ACB9-42FE-8ABE-B862F050372E}" type="datetime1">
              <a:rPr lang="en-IN" smtClean="0"/>
              <a:t>15-11-2025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01387-6B23-4B71-E08B-E62C69102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66E33-0C88-4211-9C3A-5E241118C80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103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0D66-5620-44B1-CA20-20C8F71A4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40233-643A-C179-EC37-4D5D3B2C2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1C9C6-1B24-CF8B-3F21-E13485268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D05B71D-9D0A-782D-EBBF-B7E0C7B6748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3DB45-B119-384B-C3AA-CFEDAF363F2C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009B7CF-ACB9-42FE-8ABE-B862F050372E}" type="datetime1">
              <a:rPr lang="en-IN" smtClean="0"/>
              <a:t>15-11-2025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F828D-A6C0-1FC5-87A9-3F3D9DA3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66E33-0C88-4211-9C3A-5E241118C80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060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DADB0-47B2-0D62-3FD9-4C68573C7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5C40E-CE3D-DBE1-80E1-F9DF8DD2F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6D275-E710-D7B6-45B7-ACCB047E5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30964BA-DFA0-E05C-1A2E-920CAFFE1B5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79DE1-2E59-2D4C-698B-CE2419112BA7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009B7CF-ACB9-42FE-8ABE-B862F050372E}" type="datetime1">
              <a:rPr lang="en-IN" smtClean="0"/>
              <a:t>15-11-2025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CCAA0-0425-05A8-0B7D-5B2AA9689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66E33-0C88-4211-9C3A-5E241118C80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22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3A81F-1398-4B6A-FE65-8AB1484A6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A886B-29B6-0D84-4ACE-68B9CF507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61361-28EC-E344-C8D1-A9654C0C9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42C75AD-31BE-EEA2-CB08-2B20E7F10BD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2DF55-5EC9-E2C4-8225-4ABAC3D676C7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009B7CF-ACB9-42FE-8ABE-B862F050372E}" type="datetime1">
              <a:rPr lang="en-IN" smtClean="0"/>
              <a:t>15-11-2025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4BF6E-8558-E814-F557-E706898DF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66E33-0C88-4211-9C3A-5E241118C80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100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009B7CF-ACB9-42FE-8ABE-B862F050372E}" type="datetime1">
              <a:rPr lang="en-IN" smtClean="0"/>
              <a:t>15-11-2025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66E33-0C88-4211-9C3A-5E241118C80B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49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F676E-C7AD-473C-A816-AA85BD5D68C4}" type="datetime1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209818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3B94-742D-48D3-8FAB-AFA19A2F562D}" type="datetime1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759199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699E7-8785-4E44-B320-DFD041AD8CD5}" type="datetime1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60293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FABB-6EEE-4A16-A212-9055CFBB4085}" type="datetime1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737472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07D41-23CF-4050-906B-16804A8FE85E}" type="datetime1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430729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92B7E-44CF-48F1-87CC-A61C82524D38}" type="datetime1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56878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43351-109D-42C9-8BD6-281C6608D771}" type="datetime1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362194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D254-F59B-434E-A3B4-CA93A111A004}" type="datetime1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476275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49517-4CD1-49D2-AB74-6B32FA15035D}" type="datetime1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277174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0A91-F398-48BF-896E-3B8F0FE0EDBE}" type="datetime1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279857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9D4CC-2580-4F9E-BBBA-A8068DBDE922}" type="datetime1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40369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79E0D-360A-46C1-9DAF-82FEC8E8E546}" type="datetime1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D4CE9-F1A3-4728-B74D-DBF6FEAF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75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ransition spd="slow">
    <p:cover/>
  </p:transition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ieeexplore.ieee.org/document/10123456" TargetMode="External"/><Relationship Id="rId4" Type="http://schemas.openxmlformats.org/officeDocument/2006/relationships/hyperlink" Target="https://ieeexplore.ieee.org/document/10099999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sciencedirect.com/science/article/pii/S0167923624000452" TargetMode="External"/><Relationship Id="rId4" Type="http://schemas.openxmlformats.org/officeDocument/2006/relationships/hyperlink" Target="https://link.springer.com/article/10.1007/s00607-020-00880-9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journalofbigdata.springeropen.com/articles/10.1186/s40537-019-0191-6" TargetMode="External"/><Relationship Id="rId4" Type="http://schemas.openxmlformats.org/officeDocument/2006/relationships/hyperlink" Target="https://link.springer.com/article/10.1007/s10479-023-05580-2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ieeexplore.ieee.org/document/10499999" TargetMode="External"/><Relationship Id="rId4" Type="http://schemas.openxmlformats.org/officeDocument/2006/relationships/hyperlink" Target="https://ieeexplore.ieee.org/document/10212345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hindawi.com/journals/cin/2022/1234567/" TargetMode="External"/><Relationship Id="rId4" Type="http://schemas.openxmlformats.org/officeDocument/2006/relationships/hyperlink" Target="https://www.tandfonline.com/doi/abs/10.1080/10919390902811217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D28FE-C339-4B85-9ADA-4874000C2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9307" y="2373273"/>
            <a:ext cx="9555211" cy="1323515"/>
          </a:xfrm>
        </p:spPr>
        <p:txBody>
          <a:bodyPr>
            <a:normAutofit fontScale="90000"/>
          </a:bodyPr>
          <a:lstStyle/>
          <a:p>
            <a:br>
              <a:rPr lang="en-US" sz="27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DESIGN REVIEW </a:t>
            </a:r>
            <a:br>
              <a:rPr lang="en-US" sz="27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BEHAVIOR-DRIVEN CUSTOMER SEGMENTATION AND CHURN PREDICTION USING HYBRID CLUSTERING AND EXPLAINABLE AI</a:t>
            </a:r>
            <a:r>
              <a:rPr lang="en-US" sz="2400" dirty="0"/>
              <a:t> </a:t>
            </a: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6D609-5DA3-319B-2F8E-D4C1C7EF0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9388" y="4374080"/>
            <a:ext cx="4779469" cy="1968663"/>
          </a:xfrm>
        </p:spPr>
        <p:txBody>
          <a:bodyPr>
            <a:normAutofit/>
          </a:bodyPr>
          <a:lstStyle/>
          <a:p>
            <a:r>
              <a:rPr lang="en-US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(22IMD02)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Avinash Reddy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-    22P61A05K1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Tanishq Verma    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22P61A05N3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T. Keerthana               -    22P61A05N4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3663B-1F80-A0AC-23EF-395E2C78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z="1600" smtClean="0"/>
              <a:t>1</a:t>
            </a:fld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112D3-93D6-C1FE-73A6-31F2DFA17AB2}"/>
              </a:ext>
            </a:extLst>
          </p:cNvPr>
          <p:cNvSpPr txBox="1"/>
          <p:nvPr/>
        </p:nvSpPr>
        <p:spPr>
          <a:xfrm>
            <a:off x="-136715" y="4436420"/>
            <a:ext cx="47096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Project Guide</a:t>
            </a:r>
          </a:p>
          <a:p>
            <a:pPr algn="ctr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Dr. N. Srinivas</a:t>
            </a:r>
            <a:endParaRPr lang="en-IN" sz="20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0" dirty="0">
                <a:solidFill>
                  <a:srgbClr val="32373C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Associate Professor</a:t>
            </a: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ED9B0-11AE-C0F1-E97C-EEBD310143E8}"/>
              </a:ext>
            </a:extLst>
          </p:cNvPr>
          <p:cNvSpPr txBox="1"/>
          <p:nvPr/>
        </p:nvSpPr>
        <p:spPr>
          <a:xfrm>
            <a:off x="1425675" y="1420639"/>
            <a:ext cx="1006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9120CC-5545-23FF-703F-490E7D430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40" y="198132"/>
            <a:ext cx="10257347" cy="14930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49AC7F-EC32-049A-EFD5-F612F0E93934}"/>
              </a:ext>
            </a:extLst>
          </p:cNvPr>
          <p:cNvSpPr txBox="1"/>
          <p:nvPr/>
        </p:nvSpPr>
        <p:spPr>
          <a:xfrm>
            <a:off x="1774722" y="1681088"/>
            <a:ext cx="9153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2314816490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AF225-BAA8-0DA6-CABD-134797BD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6242" y="6247497"/>
            <a:ext cx="2743200" cy="36512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2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050A8-0C00-3A11-B230-B07B21E9289D}"/>
              </a:ext>
            </a:extLst>
          </p:cNvPr>
          <p:cNvSpPr txBox="1"/>
          <p:nvPr/>
        </p:nvSpPr>
        <p:spPr>
          <a:xfrm>
            <a:off x="551543" y="759156"/>
            <a:ext cx="11016343" cy="5806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&amp; Specification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 Plan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E3B757E-FB15-995B-7545-0CCF2D46A292}"/>
              </a:ext>
            </a:extLst>
          </p:cNvPr>
          <p:cNvSpPr txBox="1">
            <a:spLocks/>
          </p:cNvSpPr>
          <p:nvPr/>
        </p:nvSpPr>
        <p:spPr>
          <a:xfrm>
            <a:off x="1171476" y="4548971"/>
            <a:ext cx="10380690" cy="2111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7D59B85-3AEE-6463-A3D9-D90A9A60F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941142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0"/>
            <a:ext cx="1422400" cy="9289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57250" y="118201"/>
            <a:ext cx="16049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sz="2400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76160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AF225-BAA8-0DA6-CABD-134797BD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6242" y="6247497"/>
            <a:ext cx="2743200" cy="365125"/>
          </a:xfrm>
        </p:spPr>
        <p:txBody>
          <a:bodyPr/>
          <a:lstStyle/>
          <a:p>
            <a:r>
              <a:rPr lang="en-IN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050A8-0C00-3A11-B230-B07B21E9289D}"/>
              </a:ext>
            </a:extLst>
          </p:cNvPr>
          <p:cNvSpPr txBox="1"/>
          <p:nvPr/>
        </p:nvSpPr>
        <p:spPr>
          <a:xfrm>
            <a:off x="551544" y="805158"/>
            <a:ext cx="11248570" cy="417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</a:rPr>
              <a:t>We will develop a hybrid system for customer segmentation and churn prediction by integrating RFM modeling with advanced clustering techniques and supervised learning models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</a:rPr>
              <a:t>We will incorporate SHAP-based Explainable AI to ensure transparency and interpretability in both the segmentation and churn prediction processes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</a:rPr>
              <a:t>We will design and deploy an interactive dashboard that provides visual insights, churn probabilities, and actionable business strategies for improved decision-making and customer retention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3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3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:</a:t>
            </a: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Segmentation, Churn Prediction, RFM Modeling, Hybrid Clustering, Explainable AI-SHAP, Business Intelligence, Machine Learning.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E3B757E-FB15-995B-7545-0CCF2D46A292}"/>
              </a:ext>
            </a:extLst>
          </p:cNvPr>
          <p:cNvSpPr txBox="1">
            <a:spLocks/>
          </p:cNvSpPr>
          <p:nvPr/>
        </p:nvSpPr>
        <p:spPr>
          <a:xfrm>
            <a:off x="1171476" y="4548971"/>
            <a:ext cx="10380690" cy="2111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7D59B85-3AEE-6463-A3D9-D90A9A60F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941142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0"/>
            <a:ext cx="1422400" cy="9289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64494" y="102996"/>
            <a:ext cx="18630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400" dirty="0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721438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F02BD-56B2-36CA-52E4-4FD6CF581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33307"/>
            <a:ext cx="11034486" cy="5740627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</a:rPr>
              <a:t>We aim to analyze customer behavior patterns to enhance satisfaction, retention, and targeted marketing strategies.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</a:rPr>
              <a:t>Existing manual or rule-based techniques often fail to detect subtle behavioral trends, resulting in less effective business decisions.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</a:rPr>
              <a:t>Through machine learning, we will perform accurate customer segmentation and churn prediction by analyzing large-scale transactional data.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</a:rPr>
              <a:t>By integrating SHAP-based Explainable AI and an interactive dashboard, the system will provide transparent insights, identify high-risk customers early, and support strategic planning across diverse industries.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96D41-8810-D1C3-B164-7F5840F9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63493"/>
            <a:ext cx="2743200" cy="365125"/>
          </a:xfrm>
        </p:spPr>
        <p:txBody>
          <a:bodyPr/>
          <a:lstStyle/>
          <a:p>
            <a:fld id="{79CD4CE9-F1A3-4728-B74D-DBF6FEAF9982}" type="slidenum">
              <a:rPr lang="en-IN" sz="1600" smtClean="0">
                <a:solidFill>
                  <a:schemeClr val="tx1"/>
                </a:solidFill>
              </a:rPr>
              <a:t>4</a:t>
            </a:fld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1"/>
            <a:ext cx="1422400" cy="82731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70958" y="84066"/>
            <a:ext cx="26500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609600" y="667657"/>
            <a:ext cx="1033417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500094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82A0-63B9-4DA1-27C2-B4105835B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9775" y="127408"/>
            <a:ext cx="3614340" cy="360167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201F9C-7289-C848-3292-6D2F03F8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802" y="757823"/>
            <a:ext cx="9585722" cy="51894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1. </a:t>
            </a:r>
            <a:r>
              <a:rPr lang="en-US" sz="2000" dirty="0">
                <a:latin typeface="Times New Roman" panose="02020603050405020304" pitchFamily="18" charset="0"/>
              </a:rPr>
              <a:t>The existing systems rely heavily on manual categorization and simple rule-based methods, which fail to capture complex customer behavioral patterns.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2. </a:t>
            </a:r>
            <a:r>
              <a:rPr lang="en-US" sz="2000" dirty="0">
                <a:latin typeface="Times New Roman" panose="02020603050405020304" pitchFamily="18" charset="0"/>
              </a:rPr>
              <a:t>They often use a single clustering technique and lack integration of RFM modeling or churn prediction, leading to incomplete customer insights.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3. </a:t>
            </a:r>
            <a:r>
              <a:rPr lang="en-US" sz="2000" dirty="0">
                <a:latin typeface="Times New Roman" panose="02020603050405020304" pitchFamily="18" charset="0"/>
              </a:rPr>
              <a:t>Most existing models provide little to no interpretability and rely on static reports, making it difficult for businesses to trust and act on the results.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4. </a:t>
            </a:r>
            <a:r>
              <a:rPr lang="en-US" sz="2000" dirty="0">
                <a:latin typeface="Times New Roman" panose="02020603050405020304" pitchFamily="18" charset="0"/>
              </a:rPr>
              <a:t>Feature selection and hyperparameter tuning are typically performed manually or with minimal automation, resulting in lower accuracy and inefficient performance.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0639D-9FBD-4830-324C-E1ADA38CC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5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0"/>
            <a:ext cx="1306286" cy="812799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609600" y="667657"/>
            <a:ext cx="1033417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45355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08C59-7046-CFA7-616B-0CB248BA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1066-BD7E-D802-DB36-BE4DDC68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9775" y="153745"/>
            <a:ext cx="3614340" cy="360167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0BE25-F444-E686-5199-A3F6107B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381" y="812799"/>
            <a:ext cx="9585722" cy="518943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   The proposed system focuses on automating customer segmentation and churn prediction.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collects and preprocesses customer transaction and demographic data, handling missing values and normalizing attributes for accurate analysis.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RFM (Recency, Frequency, Monetary) modeling is applied to derive meaningful behavioral metrics that capture customer engagement and spending patterns.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clustering approach is implemented using K-Means, Gaussian Mixture Models (GMM), and DBSCAN to identify diverse and behavior-driven customer segments.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models such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Logistic Regression are used for churn prediction, helping businesses identify and retain at-risk customers.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21905-37BB-C852-FA01-E953BD7D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6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32D5E9-D956-9C59-34B5-08E3626004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0"/>
            <a:ext cx="1306286" cy="81279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B196A2-38BB-BD79-2488-6BC10B69431B}"/>
              </a:ext>
            </a:extLst>
          </p:cNvPr>
          <p:cNvCxnSpPr/>
          <p:nvPr/>
        </p:nvCxnSpPr>
        <p:spPr>
          <a:xfrm>
            <a:off x="609600" y="667657"/>
            <a:ext cx="1033417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B371D-A30D-20B2-33CE-D975D4B0A339}"/>
              </a:ext>
            </a:extLst>
          </p:cNvPr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509833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EA194-D391-0E6C-A58C-C0C4CD8A5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42" y="1079205"/>
            <a:ext cx="11063514" cy="588508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</a:rPr>
              <a:t>Develop a scalable and interpretable system that uses hybrid clustering, churn prediction, and Explainable AI to accurately segment customers, predict churn, and provide actionable business insights.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AD23D-3B44-EC38-704A-2B6E3C1E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0312"/>
            <a:ext cx="2743200" cy="36512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7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43954" y="93164"/>
            <a:ext cx="3704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85" y="0"/>
            <a:ext cx="1436915" cy="1059543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flipV="1">
            <a:off x="551543" y="667657"/>
            <a:ext cx="10392228" cy="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551543" y="647993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94682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314" y="1190172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hybrid intelligent system that accurately segments customers and predicts churn using RFM analysis, advanced clustering, supervised learning, and Explainable AI to support transparent, data-driven retention decisions.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8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085" y="0"/>
            <a:ext cx="1436915" cy="113211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V="1">
            <a:off x="827314" y="798286"/>
            <a:ext cx="10116457" cy="1451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954050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928" y="205468"/>
            <a:ext cx="9960429" cy="462189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 OVER EXISTING SYSTEM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427" y="159657"/>
            <a:ext cx="1436915" cy="82731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41CA16-83BB-8BDA-60AE-32795D30F53B}"/>
              </a:ext>
            </a:extLst>
          </p:cNvPr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56192D0C-C7C8-9F3D-6E41-A74CC3AAB68E}"/>
              </a:ext>
            </a:extLst>
          </p:cNvPr>
          <p:cNvSpPr txBox="1">
            <a:spLocks/>
          </p:cNvSpPr>
          <p:nvPr/>
        </p:nvSpPr>
        <p:spPr>
          <a:xfrm>
            <a:off x="752928" y="898751"/>
            <a:ext cx="9960429" cy="5291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286CC2F-119D-C551-91DB-429BD3C9B5CA}"/>
              </a:ext>
            </a:extLst>
          </p:cNvPr>
          <p:cNvSpPr txBox="1">
            <a:spLocks/>
          </p:cNvSpPr>
          <p:nvPr/>
        </p:nvSpPr>
        <p:spPr>
          <a:xfrm>
            <a:off x="634998" y="986970"/>
            <a:ext cx="9960429" cy="4732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</a:rPr>
              <a:t>Provides highly accurate customer segmentation by combining multiple clustering techniques, ensuring deeper insights into behavioral patterns.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</a:rPr>
              <a:t>Integrates churn prediction models to proactively identify high-risk customers, enabling timely retention strategies.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</a:rPr>
              <a:t>Utilizes RFM modeling for behavior-driven analysis, allowing businesses to design precise and targeted marketing campaigns.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</a:rPr>
              <a:t>Incorporates SHAP-based Explainable AI, ensuring transparency and trust in segmentation and prediction results.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</a:rPr>
              <a:t>Offers dynamic, real-time interactive dashboards, helping businesses visualize insights and take immediate action.</a:t>
            </a:r>
          </a:p>
        </p:txBody>
      </p:sp>
    </p:spTree>
    <p:extLst>
      <p:ext uri="{BB962C8B-B14F-4D97-AF65-F5344CB8AC3E}">
        <p14:creationId xmlns:p14="http://schemas.microsoft.com/office/powerpoint/2010/main" val="190187466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3479E-AED3-6097-20F7-004E4A6AA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496" y="782367"/>
            <a:ext cx="9770389" cy="57635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		:	 </a:t>
            </a:r>
            <a:r>
              <a:rPr lang="pt-BR" sz="2000" dirty="0">
                <a:latin typeface="Times New Roman" panose="02020603050405020304" pitchFamily="18" charset="0"/>
              </a:rPr>
              <a:t>Windows, Linux (Ubuntu/CentOS), or macOS.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	:	 Python.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and Frameworks	: 	 </a:t>
            </a:r>
            <a:r>
              <a:rPr lang="en-IN" sz="2000" dirty="0">
                <a:latin typeface="Times New Roman" panose="02020603050405020304" pitchFamily="18" charset="0"/>
              </a:rPr>
              <a:t>NumPy, Pandas, Scikit-learn, Seaborn,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dirty="0">
                <a:latin typeface="Times New Roman" panose="02020603050405020304" pitchFamily="18" charset="0"/>
              </a:rPr>
              <a:t>                                                                         Matplotlib, </a:t>
            </a:r>
            <a:r>
              <a:rPr lang="en-IN" sz="2000" dirty="0" err="1">
                <a:latin typeface="Times New Roman" panose="02020603050405020304" pitchFamily="18" charset="0"/>
              </a:rPr>
              <a:t>XGBoost</a:t>
            </a:r>
            <a:r>
              <a:rPr lang="en-IN" sz="2000" dirty="0">
                <a:latin typeface="Times New Roman" panose="02020603050405020304" pitchFamily="18" charset="0"/>
              </a:rPr>
              <a:t>, SHAP, </a:t>
            </a:r>
            <a:r>
              <a:rPr lang="en-IN" sz="2000" dirty="0" err="1">
                <a:latin typeface="Times New Roman" panose="02020603050405020304" pitchFamily="18" charset="0"/>
              </a:rPr>
              <a:t>Streamlit</a:t>
            </a:r>
            <a:r>
              <a:rPr lang="en-IN" sz="2000" dirty="0">
                <a:latin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			              : 	 PyCharm / Visual Studio Code.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Tools		              : 	 </a:t>
            </a:r>
            <a:r>
              <a:rPr lang="en-US" sz="2000" dirty="0">
                <a:latin typeface="Times New Roman" panose="02020603050405020304" pitchFamily="18" charset="0"/>
              </a:rPr>
              <a:t>Git (for version control),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</a:rPr>
              <a:t>                                                                         Docker (optional for deployment).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(Optional)                     :              </a:t>
            </a:r>
            <a:r>
              <a:rPr lang="en-US" sz="2000" dirty="0">
                <a:latin typeface="Times New Roman" panose="02020603050405020304" pitchFamily="18" charset="0"/>
              </a:rPr>
              <a:t>SQLite or CSV file storage.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(CPU):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Multi-core processor (Intel i5/i7 or AMD equivalent).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Times New Roman" panose="02020603050405020304" pitchFamily="18" charset="0"/>
              </a:rPr>
              <a:t>RAM:</a:t>
            </a:r>
            <a:r>
              <a:rPr lang="en-US" sz="2000" dirty="0">
                <a:latin typeface="Times New Roman" panose="02020603050405020304" pitchFamily="18" charset="0"/>
              </a:rPr>
              <a:t> Minimum 8GB (16GB recommended for large datasets).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latin typeface="Times New Roman" panose="02020603050405020304" pitchFamily="18" charset="0"/>
              </a:rPr>
              <a:t>Storage:</a:t>
            </a:r>
            <a:r>
              <a:rPr lang="en-US" sz="2000" dirty="0">
                <a:latin typeface="Times New Roman" panose="02020603050405020304" pitchFamily="18" charset="0"/>
              </a:rPr>
              <a:t> Minimum 250GB free disk space.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b="1" dirty="0">
                <a:latin typeface="Times New Roman" panose="02020603050405020304" pitchFamily="18" charset="0"/>
              </a:rPr>
              <a:t>GPU (optional):</a:t>
            </a:r>
            <a:r>
              <a:rPr lang="en-IN" sz="2000" dirty="0">
                <a:latin typeface="Times New Roman" panose="02020603050405020304" pitchFamily="18" charset="0"/>
              </a:rPr>
              <a:t> Mid-range GPU for faster model training.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/>
              <a:t>Network:</a:t>
            </a:r>
            <a:r>
              <a:rPr lang="en-US" sz="2000" dirty="0"/>
              <a:t> Stable internet connection for dataset access and dashboard deployment.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678A2-5FDF-AB25-8769-4D34C1B1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3639" y="6216017"/>
            <a:ext cx="2743200" cy="36512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10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1"/>
            <a:ext cx="1306286" cy="8418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96561" y="0"/>
            <a:ext cx="5801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&amp; SPECIFICATION </a:t>
            </a:r>
            <a:endParaRPr lang="en-IN" sz="24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667657"/>
            <a:ext cx="1033417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479490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9800" y="103869"/>
            <a:ext cx="4604657" cy="4041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 PLAN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11</a:t>
            </a:fld>
            <a:endParaRPr lang="en-I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735598"/>
              </p:ext>
            </p:extLst>
          </p:nvPr>
        </p:nvGraphicFramePr>
        <p:xfrm>
          <a:off x="2562587" y="887910"/>
          <a:ext cx="7669983" cy="422230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18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2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8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7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SNO</a:t>
                      </a:r>
                      <a:endParaRPr lang="en-IN" sz="2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  <a:endParaRPr lang="en-IN" sz="2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  <a:endParaRPr lang="en-IN" sz="2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09.01.2025 to 11.01.2025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 of abstract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2. 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20.01.2025 to 25.01.2025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presentation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3. 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27.01.2025 to 02.02.2025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survey 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516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4. 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---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516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---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516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6. 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---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7. 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31.03.2025 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 of Publication document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76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8. 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07.04.2025 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 of Final Project Document 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1"/>
            <a:ext cx="1306286" cy="84182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325990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A7817-B9A0-AC3B-70F5-95196CD99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334943-02ED-D964-5968-184A0137DC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0"/>
            <a:ext cx="1306286" cy="91439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63228F-22CF-23BB-E2DB-017AB1D8B193}"/>
              </a:ext>
            </a:extLst>
          </p:cNvPr>
          <p:cNvCxnSpPr/>
          <p:nvPr/>
        </p:nvCxnSpPr>
        <p:spPr>
          <a:xfrm flipV="1">
            <a:off x="604684" y="619724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BFADE-4274-83DC-221F-E2A162C5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D4CE9-F1A3-4728-B74D-DBF6FEAF9982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9DAB5-6A6E-330D-DD0E-21DB10819115}"/>
              </a:ext>
            </a:extLst>
          </p:cNvPr>
          <p:cNvSpPr txBox="1"/>
          <p:nvPr/>
        </p:nvSpPr>
        <p:spPr>
          <a:xfrm>
            <a:off x="3726426" y="158059"/>
            <a:ext cx="4119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488C50-AD66-8BA2-40C2-CABD40935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443964"/>
              </p:ext>
            </p:extLst>
          </p:nvPr>
        </p:nvGraphicFramePr>
        <p:xfrm>
          <a:off x="505543" y="963561"/>
          <a:ext cx="10363199" cy="53684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973">
                  <a:extLst>
                    <a:ext uri="{9D8B030D-6E8A-4147-A177-3AD203B41FA5}">
                      <a16:colId xmlns:a16="http://schemas.microsoft.com/office/drawing/2014/main" val="1784097304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4242949004"/>
                    </a:ext>
                  </a:extLst>
                </a:gridCol>
                <a:gridCol w="1622323">
                  <a:extLst>
                    <a:ext uri="{9D8B030D-6E8A-4147-A177-3AD203B41FA5}">
                      <a16:colId xmlns:a16="http://schemas.microsoft.com/office/drawing/2014/main" val="47645589"/>
                    </a:ext>
                  </a:extLst>
                </a:gridCol>
                <a:gridCol w="1042219">
                  <a:extLst>
                    <a:ext uri="{9D8B030D-6E8A-4147-A177-3AD203B41FA5}">
                      <a16:colId xmlns:a16="http://schemas.microsoft.com/office/drawing/2014/main" val="1686285366"/>
                    </a:ext>
                  </a:extLst>
                </a:gridCol>
                <a:gridCol w="1671484">
                  <a:extLst>
                    <a:ext uri="{9D8B030D-6E8A-4147-A177-3AD203B41FA5}">
                      <a16:colId xmlns:a16="http://schemas.microsoft.com/office/drawing/2014/main" val="2876471599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770181517"/>
                    </a:ext>
                  </a:extLst>
                </a:gridCol>
                <a:gridCol w="1714910">
                  <a:extLst>
                    <a:ext uri="{9D8B030D-6E8A-4147-A177-3AD203B41FA5}">
                      <a16:colId xmlns:a16="http://schemas.microsoft.com/office/drawing/2014/main" val="2371253991"/>
                    </a:ext>
                  </a:extLst>
                </a:gridCol>
              </a:tblGrid>
              <a:tr h="5836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b="1" dirty="0">
                        <a:solidFill>
                          <a:schemeClr val="tx1"/>
                        </a:solidFill>
                        <a:effectLst/>
                        <a:latin typeface="CircularXXWeb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CircularXXWeb"/>
                        </a:rPr>
                        <a:t>SNO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rgbClr val="F4F4F5"/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CircularXXWeb"/>
                        </a:rPr>
                        <a:t>TITLE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rgbClr val="F4F4F5"/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AUTHOR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8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ALGORITHM    USED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ADVANTAGES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LIMITATIONS</a:t>
                      </a:r>
                    </a:p>
                  </a:txBody>
                  <a:tcPr marR="274320" marB="121920" anchor="ctr"/>
                </a:tc>
                <a:extLst>
                  <a:ext uri="{0D108BD9-81ED-4DB2-BD59-A6C34878D82A}">
                    <a16:rowId xmlns:a16="http://schemas.microsoft.com/office/drawing/2014/main" val="38125940"/>
                  </a:ext>
                </a:extLst>
              </a:tr>
              <a:tr h="23400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Big Data-Driven Hybrid Model for Enhancing Streaming Service Customer Retention Through Churn Prediction Integrated With Explainable AI</a:t>
                      </a:r>
                    </a:p>
                    <a:p>
                      <a:pPr algn="ctr" fontAlgn="t">
                        <a:buNone/>
                      </a:pPr>
                      <a:endParaRPr lang="en-US" sz="1400" b="0" u="sng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Usman Gani Joy et al.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LSTM-GRU, </a:t>
                      </a:r>
                      <a:r>
                        <a:rPr lang="en-IN" sz="1400" b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SHAP, EBM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Hybrid deep learning + ML, SHAP/EBM for transparency.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Focused on streaming, not RFM; data access not specified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60793"/>
                  </a:ext>
                </a:extLst>
              </a:tr>
              <a:tr h="193941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Prediction of Customer Behavior Changing via a Hybrid Approach</a:t>
                      </a:r>
                      <a:endParaRPr 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Nien-Ting Lee et al.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Statistical models, ML, Clustering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Dynamic churn, behavior-based segmentation, less data needed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RFM not explicit, limited to two datasets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441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710394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E3B5A-E687-A415-1B4B-DE21AB5E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F92A41-8AB9-A308-A1EE-82E763968B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0"/>
            <a:ext cx="1306286" cy="91439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991FAE-45A2-E59B-5F7D-3093F8621D0A}"/>
              </a:ext>
            </a:extLst>
          </p:cNvPr>
          <p:cNvCxnSpPr/>
          <p:nvPr/>
        </p:nvCxnSpPr>
        <p:spPr>
          <a:xfrm flipV="1">
            <a:off x="604684" y="619724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30BA1-B87E-338E-F08A-0D9F413A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12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D6535-5572-88EB-DB17-10AF266332A5}"/>
              </a:ext>
            </a:extLst>
          </p:cNvPr>
          <p:cNvSpPr txBox="1"/>
          <p:nvPr/>
        </p:nvSpPr>
        <p:spPr>
          <a:xfrm>
            <a:off x="3726426" y="158059"/>
            <a:ext cx="4119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AD7DD83-D781-1383-009B-6B795814E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672199"/>
              </p:ext>
            </p:extLst>
          </p:nvPr>
        </p:nvGraphicFramePr>
        <p:xfrm>
          <a:off x="505543" y="963561"/>
          <a:ext cx="10363199" cy="53290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973">
                  <a:extLst>
                    <a:ext uri="{9D8B030D-6E8A-4147-A177-3AD203B41FA5}">
                      <a16:colId xmlns:a16="http://schemas.microsoft.com/office/drawing/2014/main" val="1784097304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4242949004"/>
                    </a:ext>
                  </a:extLst>
                </a:gridCol>
                <a:gridCol w="1622323">
                  <a:extLst>
                    <a:ext uri="{9D8B030D-6E8A-4147-A177-3AD203B41FA5}">
                      <a16:colId xmlns:a16="http://schemas.microsoft.com/office/drawing/2014/main" val="47645589"/>
                    </a:ext>
                  </a:extLst>
                </a:gridCol>
                <a:gridCol w="1042219">
                  <a:extLst>
                    <a:ext uri="{9D8B030D-6E8A-4147-A177-3AD203B41FA5}">
                      <a16:colId xmlns:a16="http://schemas.microsoft.com/office/drawing/2014/main" val="1686285366"/>
                    </a:ext>
                  </a:extLst>
                </a:gridCol>
                <a:gridCol w="1671484">
                  <a:extLst>
                    <a:ext uri="{9D8B030D-6E8A-4147-A177-3AD203B41FA5}">
                      <a16:colId xmlns:a16="http://schemas.microsoft.com/office/drawing/2014/main" val="2876471599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770181517"/>
                    </a:ext>
                  </a:extLst>
                </a:gridCol>
                <a:gridCol w="1714910">
                  <a:extLst>
                    <a:ext uri="{9D8B030D-6E8A-4147-A177-3AD203B41FA5}">
                      <a16:colId xmlns:a16="http://schemas.microsoft.com/office/drawing/2014/main" val="2371253991"/>
                    </a:ext>
                  </a:extLst>
                </a:gridCol>
              </a:tblGrid>
              <a:tr h="5836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b="1" dirty="0">
                        <a:solidFill>
                          <a:schemeClr val="tx1"/>
                        </a:solidFill>
                        <a:effectLst/>
                        <a:latin typeface="CircularXXWeb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CircularXXWeb"/>
                        </a:rPr>
                        <a:t>SNO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rgbClr val="F4F4F5"/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CircularXXWeb"/>
                        </a:rPr>
                        <a:t>TITLE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rgbClr val="F4F4F5"/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AUTHOR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8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ALGORITHM    USED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ADVANTAGES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LIMITATIONS</a:t>
                      </a:r>
                    </a:p>
                  </a:txBody>
                  <a:tcPr marR="274320" marB="121920" anchor="ctr"/>
                </a:tc>
                <a:extLst>
                  <a:ext uri="{0D108BD9-81ED-4DB2-BD59-A6C34878D82A}">
                    <a16:rowId xmlns:a16="http://schemas.microsoft.com/office/drawing/2014/main" val="38125940"/>
                  </a:ext>
                </a:extLst>
              </a:tr>
              <a:tr h="234007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Customer churn prediction system: a machine learning approach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 Lalwani et al.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LR, NB, SVM, RF, DT, </a:t>
                      </a:r>
                      <a:r>
                        <a:rPr lang="en-IN" sz="1400" b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AdaBoost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Ensemble models, high accuracy, robust validation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clustering or RFM, limited explainability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60793"/>
                  </a:ext>
                </a:extLst>
              </a:tr>
              <a:tr h="19984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Hybrid black-box classification for customer churn prediction with segmented interpretability analysis</a:t>
                      </a:r>
                      <a:endParaRPr 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Arno De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Caigny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segmented models, SHAP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Model-agnostic XAI, segmented insights, strong benchmarking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RFM not explicit, complex implementation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441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989454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EF00F-C8D7-25B5-6D04-C23E1BA8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E029F8-2A38-9DA6-5A0A-F937CAF02A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0"/>
            <a:ext cx="1306286" cy="91439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10AC3D-915F-F079-512B-43C0EAE32003}"/>
              </a:ext>
            </a:extLst>
          </p:cNvPr>
          <p:cNvCxnSpPr/>
          <p:nvPr/>
        </p:nvCxnSpPr>
        <p:spPr>
          <a:xfrm flipV="1">
            <a:off x="604684" y="619724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4AB14-13F5-0163-68BF-FF25870E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13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77AD7-A1C2-6AA1-DB46-776A63254BF0}"/>
              </a:ext>
            </a:extLst>
          </p:cNvPr>
          <p:cNvSpPr txBox="1"/>
          <p:nvPr/>
        </p:nvSpPr>
        <p:spPr>
          <a:xfrm>
            <a:off x="3726426" y="158059"/>
            <a:ext cx="4119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9B695D1-77CD-6B87-31C8-B67853A45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373571"/>
              </p:ext>
            </p:extLst>
          </p:nvPr>
        </p:nvGraphicFramePr>
        <p:xfrm>
          <a:off x="505543" y="963561"/>
          <a:ext cx="10363199" cy="52897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973">
                  <a:extLst>
                    <a:ext uri="{9D8B030D-6E8A-4147-A177-3AD203B41FA5}">
                      <a16:colId xmlns:a16="http://schemas.microsoft.com/office/drawing/2014/main" val="1784097304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4242949004"/>
                    </a:ext>
                  </a:extLst>
                </a:gridCol>
                <a:gridCol w="1622323">
                  <a:extLst>
                    <a:ext uri="{9D8B030D-6E8A-4147-A177-3AD203B41FA5}">
                      <a16:colId xmlns:a16="http://schemas.microsoft.com/office/drawing/2014/main" val="47645589"/>
                    </a:ext>
                  </a:extLst>
                </a:gridCol>
                <a:gridCol w="1042219">
                  <a:extLst>
                    <a:ext uri="{9D8B030D-6E8A-4147-A177-3AD203B41FA5}">
                      <a16:colId xmlns:a16="http://schemas.microsoft.com/office/drawing/2014/main" val="1686285366"/>
                    </a:ext>
                  </a:extLst>
                </a:gridCol>
                <a:gridCol w="1671484">
                  <a:extLst>
                    <a:ext uri="{9D8B030D-6E8A-4147-A177-3AD203B41FA5}">
                      <a16:colId xmlns:a16="http://schemas.microsoft.com/office/drawing/2014/main" val="2876471599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770181517"/>
                    </a:ext>
                  </a:extLst>
                </a:gridCol>
                <a:gridCol w="1714910">
                  <a:extLst>
                    <a:ext uri="{9D8B030D-6E8A-4147-A177-3AD203B41FA5}">
                      <a16:colId xmlns:a16="http://schemas.microsoft.com/office/drawing/2014/main" val="2371253991"/>
                    </a:ext>
                  </a:extLst>
                </a:gridCol>
              </a:tblGrid>
              <a:tr h="5836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b="1" dirty="0">
                        <a:solidFill>
                          <a:schemeClr val="tx1"/>
                        </a:solidFill>
                        <a:effectLst/>
                        <a:latin typeface="CircularXXWeb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CircularXXWeb"/>
                        </a:rPr>
                        <a:t>SNO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rgbClr val="F4F4F5"/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CircularXXWeb"/>
                        </a:rPr>
                        <a:t>TITLE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rgbClr val="F4F4F5"/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AUTHOR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8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ALGORITHM    USED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ADVANTAGES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LIMITATIONS</a:t>
                      </a:r>
                    </a:p>
                  </a:txBody>
                  <a:tcPr marR="274320" marB="121920" anchor="ctr"/>
                </a:tc>
                <a:extLst>
                  <a:ext uri="{0D108BD9-81ED-4DB2-BD59-A6C34878D82A}">
                    <a16:rowId xmlns:a16="http://schemas.microsoft.com/office/drawing/2014/main" val="38125940"/>
                  </a:ext>
                </a:extLst>
              </a:tr>
              <a:tr h="234007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Exploiting time-varying RFM measures for customer churn prediction with deep neural networks</a:t>
                      </a:r>
                      <a:endParaRPr 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Gary Mena et al.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rgbClr val="F4F4F5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RNN, Transformer, Hybrid DNN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RFM with DNN, sequential modeling, strong results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Hybrid models not always better than DNN alone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60793"/>
                  </a:ext>
                </a:extLst>
              </a:tr>
              <a:tr h="195907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Customer churn prediction in telecom using machine learning in big data platform</a:t>
                      </a:r>
                      <a:endParaRPr 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A. Ahmad et al.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DT, RF, GBM, </a:t>
                      </a:r>
                      <a:r>
                        <a:rPr lang="en-IN" sz="1400" b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SNA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Big data, SNA features, high AUC (93.3%)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RFM, limited explainability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441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23915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1BDE0-66CB-B5E3-A2FC-95EDA7F1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C876A6-F74F-47D5-54A9-23D0AE251B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0"/>
            <a:ext cx="1306286" cy="91439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4A652B-02AD-E969-BF11-0DDF1CFD1937}"/>
              </a:ext>
            </a:extLst>
          </p:cNvPr>
          <p:cNvCxnSpPr/>
          <p:nvPr/>
        </p:nvCxnSpPr>
        <p:spPr>
          <a:xfrm flipV="1">
            <a:off x="604684" y="619724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C7DD4-1621-0284-1EA7-521E347CD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70991-2ED5-C5E0-70B0-0B6C1ED96452}"/>
              </a:ext>
            </a:extLst>
          </p:cNvPr>
          <p:cNvSpPr txBox="1"/>
          <p:nvPr/>
        </p:nvSpPr>
        <p:spPr>
          <a:xfrm>
            <a:off x="3726426" y="158059"/>
            <a:ext cx="4119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4592D26-2C4B-A7B9-E787-58BCE8CAC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802687"/>
              </p:ext>
            </p:extLst>
          </p:nvPr>
        </p:nvGraphicFramePr>
        <p:xfrm>
          <a:off x="505543" y="963561"/>
          <a:ext cx="10363199" cy="52307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973">
                  <a:extLst>
                    <a:ext uri="{9D8B030D-6E8A-4147-A177-3AD203B41FA5}">
                      <a16:colId xmlns:a16="http://schemas.microsoft.com/office/drawing/2014/main" val="1784097304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4242949004"/>
                    </a:ext>
                  </a:extLst>
                </a:gridCol>
                <a:gridCol w="1622323">
                  <a:extLst>
                    <a:ext uri="{9D8B030D-6E8A-4147-A177-3AD203B41FA5}">
                      <a16:colId xmlns:a16="http://schemas.microsoft.com/office/drawing/2014/main" val="47645589"/>
                    </a:ext>
                  </a:extLst>
                </a:gridCol>
                <a:gridCol w="1042219">
                  <a:extLst>
                    <a:ext uri="{9D8B030D-6E8A-4147-A177-3AD203B41FA5}">
                      <a16:colId xmlns:a16="http://schemas.microsoft.com/office/drawing/2014/main" val="1686285366"/>
                    </a:ext>
                  </a:extLst>
                </a:gridCol>
                <a:gridCol w="1671484">
                  <a:extLst>
                    <a:ext uri="{9D8B030D-6E8A-4147-A177-3AD203B41FA5}">
                      <a16:colId xmlns:a16="http://schemas.microsoft.com/office/drawing/2014/main" val="2876471599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770181517"/>
                    </a:ext>
                  </a:extLst>
                </a:gridCol>
                <a:gridCol w="1714910">
                  <a:extLst>
                    <a:ext uri="{9D8B030D-6E8A-4147-A177-3AD203B41FA5}">
                      <a16:colId xmlns:a16="http://schemas.microsoft.com/office/drawing/2014/main" val="2371253991"/>
                    </a:ext>
                  </a:extLst>
                </a:gridCol>
              </a:tblGrid>
              <a:tr h="5836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b="1" dirty="0">
                        <a:solidFill>
                          <a:schemeClr val="tx1"/>
                        </a:solidFill>
                        <a:effectLst/>
                        <a:latin typeface="CircularXXWeb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CircularXXWeb"/>
                        </a:rPr>
                        <a:t>SNO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rgbClr val="F4F4F5"/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CircularXXWeb"/>
                        </a:rPr>
                        <a:t>TITLE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rgbClr val="F4F4F5"/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AUTHOR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8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ALGORITHM    USED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ADVANTAGES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LIMITATIONS</a:t>
                      </a:r>
                    </a:p>
                  </a:txBody>
                  <a:tcPr marR="274320" marB="121920" anchor="ctr"/>
                </a:tc>
                <a:extLst>
                  <a:ext uri="{0D108BD9-81ED-4DB2-BD59-A6C34878D82A}">
                    <a16:rowId xmlns:a16="http://schemas.microsoft.com/office/drawing/2014/main" val="38125940"/>
                  </a:ext>
                </a:extLst>
              </a:tr>
              <a:tr h="234007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 Review on Machine Learning Methods for Customer Churn Prediction and Recommendations for Business Practitioners</a:t>
                      </a:r>
                      <a:endParaRPr 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Awais Manzoor et al.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Review (ML, DL, XAI)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Comprehensive, covers XAI, segmentation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experiments, review only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60793"/>
                  </a:ext>
                </a:extLst>
              </a:tr>
              <a:tr h="19000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Hybrid CNN-LSTM Approach for Predicting and Analyzing Customer Churn in the Banking Sector</a:t>
                      </a:r>
                      <a:endParaRPr 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Amit Kaushik et al.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CNN-LSTM, Clustering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Hybrid DL, segmentation, high accuracy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RFM, no XAI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441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2301660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F1D0A-BA5B-C091-F03E-63798285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3ADBC6-BBB4-ECC7-769F-23A495837B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0"/>
            <a:ext cx="1306286" cy="91439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BD0DA7-5FBD-D375-AF43-AA9BA8C17A65}"/>
              </a:ext>
            </a:extLst>
          </p:cNvPr>
          <p:cNvCxnSpPr/>
          <p:nvPr/>
        </p:nvCxnSpPr>
        <p:spPr>
          <a:xfrm flipV="1">
            <a:off x="604684" y="619724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7F409-C0ED-503F-160B-396BFED3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15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9DA9E-FE71-01AC-61C6-19529242F082}"/>
              </a:ext>
            </a:extLst>
          </p:cNvPr>
          <p:cNvSpPr txBox="1"/>
          <p:nvPr/>
        </p:nvSpPr>
        <p:spPr>
          <a:xfrm>
            <a:off x="3726426" y="158059"/>
            <a:ext cx="4119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A4B8C2C-1E22-7D2B-AF6E-BAABD5D40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762847"/>
              </p:ext>
            </p:extLst>
          </p:nvPr>
        </p:nvGraphicFramePr>
        <p:xfrm>
          <a:off x="604684" y="879780"/>
          <a:ext cx="10363199" cy="52260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973">
                  <a:extLst>
                    <a:ext uri="{9D8B030D-6E8A-4147-A177-3AD203B41FA5}">
                      <a16:colId xmlns:a16="http://schemas.microsoft.com/office/drawing/2014/main" val="1784097304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4242949004"/>
                    </a:ext>
                  </a:extLst>
                </a:gridCol>
                <a:gridCol w="1622323">
                  <a:extLst>
                    <a:ext uri="{9D8B030D-6E8A-4147-A177-3AD203B41FA5}">
                      <a16:colId xmlns:a16="http://schemas.microsoft.com/office/drawing/2014/main" val="47645589"/>
                    </a:ext>
                  </a:extLst>
                </a:gridCol>
                <a:gridCol w="1042219">
                  <a:extLst>
                    <a:ext uri="{9D8B030D-6E8A-4147-A177-3AD203B41FA5}">
                      <a16:colId xmlns:a16="http://schemas.microsoft.com/office/drawing/2014/main" val="1686285366"/>
                    </a:ext>
                  </a:extLst>
                </a:gridCol>
                <a:gridCol w="1671484">
                  <a:extLst>
                    <a:ext uri="{9D8B030D-6E8A-4147-A177-3AD203B41FA5}">
                      <a16:colId xmlns:a16="http://schemas.microsoft.com/office/drawing/2014/main" val="2876471599"/>
                    </a:ext>
                  </a:extLst>
                </a:gridCol>
                <a:gridCol w="1720645">
                  <a:extLst>
                    <a:ext uri="{9D8B030D-6E8A-4147-A177-3AD203B41FA5}">
                      <a16:colId xmlns:a16="http://schemas.microsoft.com/office/drawing/2014/main" val="770181517"/>
                    </a:ext>
                  </a:extLst>
                </a:gridCol>
                <a:gridCol w="1714910">
                  <a:extLst>
                    <a:ext uri="{9D8B030D-6E8A-4147-A177-3AD203B41FA5}">
                      <a16:colId xmlns:a16="http://schemas.microsoft.com/office/drawing/2014/main" val="2371253991"/>
                    </a:ext>
                  </a:extLst>
                </a:gridCol>
              </a:tblGrid>
              <a:tr h="5836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b="1" dirty="0">
                        <a:solidFill>
                          <a:schemeClr val="tx1"/>
                        </a:solidFill>
                        <a:effectLst/>
                        <a:latin typeface="CircularXXWeb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CircularXXWeb"/>
                        </a:rPr>
                        <a:t>SNO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rgbClr val="F4F4F5"/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CircularXXWeb"/>
                        </a:rPr>
                        <a:t>TITLE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rgbClr val="F4F4F5"/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AUTHOR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8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ALGORITHM    USED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ADVANTAGES</a:t>
                      </a:r>
                    </a:p>
                  </a:txBody>
                  <a:tcPr marR="274320" marB="12192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b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</a:br>
                      <a:r>
                        <a:rPr lang="en-IN" b="1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ircularXXWeb"/>
                        </a:rPr>
                        <a:t>LIMITATIONS</a:t>
                      </a:r>
                    </a:p>
                  </a:txBody>
                  <a:tcPr marR="274320" marB="121920" anchor="ctr"/>
                </a:tc>
                <a:extLst>
                  <a:ext uri="{0D108BD9-81ED-4DB2-BD59-A6C34878D82A}">
                    <a16:rowId xmlns:a16="http://schemas.microsoft.com/office/drawing/2014/main" val="38125940"/>
                  </a:ext>
                </a:extLst>
              </a:tr>
              <a:tr h="234007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sng" kern="120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Hybrid Models Using Unsupervised Clustering for Prediction of Customer Churn</a:t>
                      </a:r>
                      <a:endParaRPr lang="en-IN" sz="140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I. Bose, X. Chen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Clustering, Decision Trees, Boosting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Hybrid clustering, interpretable rules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RFM, no XAI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60793"/>
                  </a:ext>
                </a:extLst>
              </a:tr>
              <a:tr h="18953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</a:br>
                      <a:r>
                        <a:rPr lang="en-US" sz="1400" b="0" u="sng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Artificial Intelligence Based Customer Churn Prediction Model for Business Markets</a:t>
                      </a:r>
                      <a:endParaRPr lang="en-US" sz="1400" b="0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J. Faritha Banu et al.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b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0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CSSO-FS, Fuzzy Rule, QPSO</a:t>
                      </a:r>
                    </a:p>
                  </a:txBody>
                  <a:tcPr marR="2743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Hybrid AI, high accuracy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RFM, limited XAI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441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032681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28E8E-4AF0-4DB7-787C-6536FD119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14" y="664030"/>
            <a:ext cx="11771086" cy="6193970"/>
          </a:xfrm>
        </p:spPr>
        <p:txBody>
          <a:bodyPr>
            <a:noAutofit/>
          </a:bodyPr>
          <a:lstStyle/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	</a:t>
            </a:r>
            <a:r>
              <a:rPr lang="en-IN" sz="2000" dirty="0">
                <a:latin typeface="Times New Roman" panose="02020603050405020304" pitchFamily="18" charset="0"/>
              </a:rPr>
              <a:t>Kaur, A., &amp; </a:t>
            </a:r>
            <a:r>
              <a:rPr lang="en-IN" sz="2000" dirty="0" err="1">
                <a:latin typeface="Times New Roman" panose="02020603050405020304" pitchFamily="18" charset="0"/>
              </a:rPr>
              <a:t>Sarmadi</a:t>
            </a:r>
            <a:r>
              <a:rPr lang="en-IN" sz="2000" dirty="0">
                <a:latin typeface="Times New Roman" panose="02020603050405020304" pitchFamily="18" charset="0"/>
              </a:rPr>
              <a:t>, M. (2024). Adaptive feature selection for imbalanced datasets in customer analytics.</a:t>
            </a: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i="1" dirty="0">
                <a:latin typeface="Times New Roman" panose="02020603050405020304" pitchFamily="18" charset="0"/>
              </a:rPr>
              <a:t>          </a:t>
            </a:r>
            <a:r>
              <a:rPr lang="en-IN" sz="2000" i="1" dirty="0" err="1">
                <a:latin typeface="Times New Roman" panose="02020603050405020304" pitchFamily="18" charset="0"/>
              </a:rPr>
              <a:t>arXiv</a:t>
            </a:r>
            <a:r>
              <a:rPr lang="en-IN" sz="2000" i="1" dirty="0">
                <a:latin typeface="Times New Roman" panose="02020603050405020304" pitchFamily="18" charset="0"/>
              </a:rPr>
              <a:t> preprint arXiv:2402.14980</a:t>
            </a:r>
            <a:r>
              <a:rPr lang="en-IN" sz="2000" dirty="0">
                <a:latin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	</a:t>
            </a:r>
            <a:r>
              <a:rPr lang="en-US" sz="2000" dirty="0">
                <a:latin typeface="Times New Roman" panose="02020603050405020304" pitchFamily="18" charset="0"/>
              </a:rPr>
              <a:t>Tschalzev, A., et al. (2024). A Data-Centric Perspective on Evaluating Customer Churn Prediction Models.</a:t>
            </a: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i="1" dirty="0">
                <a:latin typeface="Times New Roman" panose="02020603050405020304" pitchFamily="18" charset="0"/>
              </a:rPr>
              <a:t>          </a:t>
            </a:r>
            <a:r>
              <a:rPr lang="en-US" sz="2000" i="1" dirty="0" err="1">
                <a:latin typeface="Times New Roman" panose="02020603050405020304" pitchFamily="18" charset="0"/>
              </a:rPr>
              <a:t>arXiv</a:t>
            </a:r>
            <a:r>
              <a:rPr lang="en-US" sz="2000" i="1" dirty="0">
                <a:latin typeface="Times New Roman" panose="02020603050405020304" pitchFamily="18" charset="0"/>
              </a:rPr>
              <a:t> preprint arXiv:2407.02112</a:t>
            </a:r>
            <a:r>
              <a:rPr lang="en-US" sz="2000" dirty="0">
                <a:latin typeface="Times New Roman" panose="02020603050405020304" pitchFamily="18" charset="0"/>
              </a:rPr>
              <a:t>. </a:t>
            </a: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	</a:t>
            </a:r>
            <a:r>
              <a:rPr lang="en-US" sz="2000" dirty="0">
                <a:latin typeface="Times New Roman" panose="02020603050405020304" pitchFamily="18" charset="0"/>
              </a:rPr>
              <a:t>Turali, M. Y., et al. (2024). Enhancing Model Performance through Adaptive Hyperparameter Tuning for</a:t>
            </a: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</a:rPr>
              <a:t>          Business Applications. </a:t>
            </a:r>
            <a:r>
              <a:rPr lang="en-US" sz="2000" i="1" dirty="0">
                <a:latin typeface="Times New Roman" panose="02020603050405020304" pitchFamily="18" charset="0"/>
              </a:rPr>
              <a:t>IEEE Transactions on Knowledge and Data Engineering</a:t>
            </a:r>
            <a:r>
              <a:rPr lang="en-US" sz="2000" dirty="0">
                <a:latin typeface="Times New Roman" panose="02020603050405020304" pitchFamily="18" charset="0"/>
              </a:rPr>
              <a:t>. </a:t>
            </a: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[4].	</a:t>
            </a:r>
            <a:r>
              <a:rPr lang="en-US" sz="2000" dirty="0">
                <a:latin typeface="Times New Roman" panose="02020603050405020304" pitchFamily="18" charset="0"/>
              </a:rPr>
              <a:t>Bolón-Canedo, V., et al. (2023). Recent advancements in feature selection for machine learning models.</a:t>
            </a: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i="1" dirty="0">
                <a:latin typeface="Times New Roman" panose="02020603050405020304" pitchFamily="18" charset="0"/>
              </a:rPr>
              <a:t>          Knowledge-Based Systems, 245</a:t>
            </a:r>
            <a:r>
              <a:rPr lang="en-US" sz="2000" dirty="0">
                <a:latin typeface="Times New Roman" panose="02020603050405020304" pitchFamily="18" charset="0"/>
              </a:rPr>
              <a:t>, 108678.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[5].	</a:t>
            </a:r>
            <a:r>
              <a:rPr lang="en-US" sz="2000" dirty="0">
                <a:latin typeface="Times New Roman" panose="02020603050405020304" pitchFamily="18" charset="0"/>
              </a:rPr>
              <a:t>Chen, T., &amp; </a:t>
            </a:r>
            <a:r>
              <a:rPr lang="en-US" sz="2000" dirty="0" err="1">
                <a:latin typeface="Times New Roman" panose="02020603050405020304" pitchFamily="18" charset="0"/>
              </a:rPr>
              <a:t>Guestrin</a:t>
            </a:r>
            <a:r>
              <a:rPr lang="en-US" sz="2000" dirty="0">
                <a:latin typeface="Times New Roman" panose="02020603050405020304" pitchFamily="18" charset="0"/>
              </a:rPr>
              <a:t>, C. (2023). Tree Boosting with </a:t>
            </a:r>
            <a:r>
              <a:rPr lang="en-US" sz="2000" dirty="0" err="1">
                <a:latin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</a:rPr>
              <a:t>: Enhancing Predictive Modeling in</a:t>
            </a: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</a:rPr>
              <a:t>          Customer Retention. </a:t>
            </a:r>
            <a:r>
              <a:rPr lang="en-US" sz="2000" i="1" dirty="0">
                <a:latin typeface="Times New Roman" panose="02020603050405020304" pitchFamily="18" charset="0"/>
              </a:rPr>
              <a:t>Proceedings of the 23rd ACM SIGKDD International Conference</a:t>
            </a:r>
            <a:r>
              <a:rPr lang="en-US" sz="2000" dirty="0">
                <a:latin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[6].	</a:t>
            </a:r>
            <a:r>
              <a:rPr lang="en-US" sz="2000" dirty="0">
                <a:latin typeface="Times New Roman" panose="02020603050405020304" pitchFamily="18" charset="0"/>
              </a:rPr>
              <a:t>Bergstra, J., &amp; Bengio, Y. (2023). Random search for hyper-parameter optimization. </a:t>
            </a:r>
            <a:r>
              <a:rPr lang="en-US" sz="2000" i="1" dirty="0">
                <a:latin typeface="Times New Roman" panose="02020603050405020304" pitchFamily="18" charset="0"/>
              </a:rPr>
              <a:t>Journal of Machine</a:t>
            </a: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i="1" dirty="0">
                <a:latin typeface="Times New Roman" panose="02020603050405020304" pitchFamily="18" charset="0"/>
              </a:rPr>
              <a:t>          Learning Research, 14</a:t>
            </a:r>
            <a:r>
              <a:rPr lang="en-US" sz="2000" dirty="0">
                <a:latin typeface="Times New Roman" panose="02020603050405020304" pitchFamily="18" charset="0"/>
              </a:rPr>
              <a:t>, 281–305.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[7].	</a:t>
            </a:r>
            <a:r>
              <a:rPr lang="en-US" sz="2000" dirty="0">
                <a:latin typeface="Times New Roman" panose="02020603050405020304" pitchFamily="18" charset="0"/>
              </a:rPr>
              <a:t>Ibrahimi, E., et al. (2023). Overview of data preprocessing for machine learning applications in customer</a:t>
            </a: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</a:rPr>
              <a:t>          behavior analysis. </a:t>
            </a:r>
            <a:r>
              <a:rPr lang="en-US" sz="2000" i="1" dirty="0">
                <a:latin typeface="Times New Roman" panose="02020603050405020304" pitchFamily="18" charset="0"/>
              </a:rPr>
              <a:t>Frontiers in Artificial Intelligence</a:t>
            </a:r>
            <a:r>
              <a:rPr lang="en-US" sz="2000" dirty="0">
                <a:latin typeface="Times New Roman" panose="02020603050405020304" pitchFamily="18" charset="0"/>
              </a:rPr>
              <a:t>. </a:t>
            </a:r>
          </a:p>
          <a:p>
            <a:pPr marL="0" indent="0" algn="just" defTabSz="623888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[8].	</a:t>
            </a:r>
            <a:r>
              <a:rPr lang="en-US" sz="2000" dirty="0">
                <a:latin typeface="Times New Roman" panose="02020603050405020304" pitchFamily="18" charset="0"/>
              </a:rPr>
              <a:t>Aggarwal, C. C. (2022). </a:t>
            </a:r>
            <a:r>
              <a:rPr lang="en-US" sz="2000" i="1" dirty="0">
                <a:latin typeface="Times New Roman" panose="02020603050405020304" pitchFamily="18" charset="0"/>
              </a:rPr>
              <a:t>Machine Learning for Business Analytics</a:t>
            </a:r>
            <a:r>
              <a:rPr lang="en-US" sz="2000" dirty="0">
                <a:latin typeface="Times New Roman" panose="02020603050405020304" pitchFamily="18" charset="0"/>
              </a:rPr>
              <a:t>. Springer.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008065-26D3-ED2C-20EE-637E8C12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05094"/>
            <a:ext cx="2743200" cy="36512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16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057" y="1"/>
            <a:ext cx="1465943" cy="87085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915598" y="0"/>
            <a:ext cx="2255746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108262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8D29-F270-3702-98B3-4CC25FAB3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2E3D0-5E04-7709-B1DB-390E4A77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05094"/>
            <a:ext cx="2743200" cy="36512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16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3D46EC-A849-39D3-5876-0A108769DB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057" y="1"/>
            <a:ext cx="1465943" cy="8708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EF7787-1D8B-CB5A-1239-CF207C64B212}"/>
              </a:ext>
            </a:extLst>
          </p:cNvPr>
          <p:cNvSpPr/>
          <p:nvPr/>
        </p:nvSpPr>
        <p:spPr>
          <a:xfrm>
            <a:off x="4082147" y="0"/>
            <a:ext cx="4027706" cy="11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3EDFBF-24E6-4ACB-89A6-374D21E467F9}"/>
              </a:ext>
            </a:extLst>
          </p:cNvPr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AutoShape 2" descr="Image of ">
            <a:extLst>
              <a:ext uri="{FF2B5EF4-FFF2-40B4-BE49-F238E27FC236}">
                <a16:creationId xmlns:a16="http://schemas.microsoft.com/office/drawing/2014/main" id="{0E006983-DE7B-FD5F-2468-818312156C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6" descr="Image of ">
            <a:extLst>
              <a:ext uri="{FF2B5EF4-FFF2-40B4-BE49-F238E27FC236}">
                <a16:creationId xmlns:a16="http://schemas.microsoft.com/office/drawing/2014/main" id="{EB67722B-E85E-D2FC-68AB-8905776808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CFAC119-0E4B-76C3-A2F5-5F9020B99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43" y="1111385"/>
            <a:ext cx="10744200" cy="505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89470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2DD35-CBC1-791D-8DA9-9FBF7CCD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4F1A2-D1B4-50DE-F4DB-2679CCBC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05094"/>
            <a:ext cx="2743200" cy="36512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16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5B4BEC-E270-AED7-2CCB-ADB9BA996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057" y="1"/>
            <a:ext cx="1465943" cy="8708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6C8635-B41A-B824-1124-3E839B100A9D}"/>
              </a:ext>
            </a:extLst>
          </p:cNvPr>
          <p:cNvSpPr/>
          <p:nvPr/>
        </p:nvSpPr>
        <p:spPr>
          <a:xfrm>
            <a:off x="4082147" y="0"/>
            <a:ext cx="2795958" cy="1687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108EA5-62C3-8FAC-959E-D386B1A432FF}"/>
              </a:ext>
            </a:extLst>
          </p:cNvPr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AutoShape 2" descr="Image of ">
            <a:extLst>
              <a:ext uri="{FF2B5EF4-FFF2-40B4-BE49-F238E27FC236}">
                <a16:creationId xmlns:a16="http://schemas.microsoft.com/office/drawing/2014/main" id="{354556BB-1F1B-3CF2-9392-C73F7C8399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6" descr="Image of ">
            <a:extLst>
              <a:ext uri="{FF2B5EF4-FFF2-40B4-BE49-F238E27FC236}">
                <a16:creationId xmlns:a16="http://schemas.microsoft.com/office/drawing/2014/main" id="{66E8C940-823D-3859-A41A-B5D92B28CE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12EC8B-3D59-EEDE-59D0-285CF23C0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1" y="870857"/>
            <a:ext cx="7619999" cy="548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23020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1D7E-A800-44EC-670F-07A4B6A6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5C1BB-0632-7CF8-D561-FE3FE007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05094"/>
            <a:ext cx="2743200" cy="36512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16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C4C240-5A1F-C7ED-5947-AC7BACCB06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057" y="1"/>
            <a:ext cx="1465943" cy="8708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9C3B5B1-A321-9857-263E-111EE731F64B}"/>
              </a:ext>
            </a:extLst>
          </p:cNvPr>
          <p:cNvSpPr/>
          <p:nvPr/>
        </p:nvSpPr>
        <p:spPr>
          <a:xfrm>
            <a:off x="4082147" y="0"/>
            <a:ext cx="3300904" cy="1687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44970D-B0D6-8BCE-C6A0-F58990DE7689}"/>
              </a:ext>
            </a:extLst>
          </p:cNvPr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AutoShape 2" descr="Image of ">
            <a:extLst>
              <a:ext uri="{FF2B5EF4-FFF2-40B4-BE49-F238E27FC236}">
                <a16:creationId xmlns:a16="http://schemas.microsoft.com/office/drawing/2014/main" id="{7014ACD0-B5D5-E169-2A31-D05A2D9F58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6" descr="Image of ">
            <a:extLst>
              <a:ext uri="{FF2B5EF4-FFF2-40B4-BE49-F238E27FC236}">
                <a16:creationId xmlns:a16="http://schemas.microsoft.com/office/drawing/2014/main" id="{26BAB91A-61BB-C560-4DC6-C68414CFFD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24D708-B551-E2BF-158E-82428DD1E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732" y="904363"/>
            <a:ext cx="5972536" cy="526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83093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DEB39-B347-B58E-CED8-99DE480A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51FA7-1026-F24A-C604-F7BE4E0F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05094"/>
            <a:ext cx="2743200" cy="36512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16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4C3069-2217-1D8C-F5D5-CED7931306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057" y="1"/>
            <a:ext cx="1465943" cy="8708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4AF9CFB-1379-572B-93DA-BC0E347F2739}"/>
              </a:ext>
            </a:extLst>
          </p:cNvPr>
          <p:cNvSpPr/>
          <p:nvPr/>
        </p:nvSpPr>
        <p:spPr>
          <a:xfrm>
            <a:off x="4082147" y="0"/>
            <a:ext cx="3496470" cy="1687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5C8C43-D8D4-4C61-E0EE-CA55743C50E0}"/>
              </a:ext>
            </a:extLst>
          </p:cNvPr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AutoShape 2" descr="Image of ">
            <a:extLst>
              <a:ext uri="{FF2B5EF4-FFF2-40B4-BE49-F238E27FC236}">
                <a16:creationId xmlns:a16="http://schemas.microsoft.com/office/drawing/2014/main" id="{4D6A9D89-C7A0-449B-97A7-9530D52E80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6" descr="Image of ">
            <a:extLst>
              <a:ext uri="{FF2B5EF4-FFF2-40B4-BE49-F238E27FC236}">
                <a16:creationId xmlns:a16="http://schemas.microsoft.com/office/drawing/2014/main" id="{382F884D-AFB0-2CE0-59CF-75785F0701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458F62-EAE0-3AE1-0223-372E5B172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17" y="753432"/>
            <a:ext cx="9809529" cy="560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19026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17DA1-E427-8F68-DCF7-47437FD06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7BB3E-CFB6-927E-3C06-F31431A12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05094"/>
            <a:ext cx="2743200" cy="36512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16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86704C-BAC9-0D3F-2E9E-BE4579B39F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057" y="1"/>
            <a:ext cx="1465943" cy="87085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B2261A-0A09-DFEB-5011-D6D014515C6F}"/>
              </a:ext>
            </a:extLst>
          </p:cNvPr>
          <p:cNvSpPr/>
          <p:nvPr/>
        </p:nvSpPr>
        <p:spPr>
          <a:xfrm>
            <a:off x="4082147" y="0"/>
            <a:ext cx="3332772" cy="1687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EFA9A8-4AE2-4341-752B-7930D6ECDC3D}"/>
              </a:ext>
            </a:extLst>
          </p:cNvPr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AutoShape 2" descr="Image of ">
            <a:extLst>
              <a:ext uri="{FF2B5EF4-FFF2-40B4-BE49-F238E27FC236}">
                <a16:creationId xmlns:a16="http://schemas.microsoft.com/office/drawing/2014/main" id="{4B7EF8ED-CC4E-DFF7-8638-4B961AE505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6" descr="Image of ">
            <a:extLst>
              <a:ext uri="{FF2B5EF4-FFF2-40B4-BE49-F238E27FC236}">
                <a16:creationId xmlns:a16="http://schemas.microsoft.com/office/drawing/2014/main" id="{BD48B1CE-1471-7310-F196-30B1CEDB78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BF8457-9B5C-EC56-CEEC-3C5C247A7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660" y="843981"/>
            <a:ext cx="6239746" cy="536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59976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034CBD-4C43-EB7A-B62B-D092AF5350B0}"/>
              </a:ext>
            </a:extLst>
          </p:cNvPr>
          <p:cNvSpPr txBox="1"/>
          <p:nvPr/>
        </p:nvSpPr>
        <p:spPr>
          <a:xfrm>
            <a:off x="3680015" y="2584862"/>
            <a:ext cx="64116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gerian" panose="04020705040A02060702" pitchFamily="82" charset="0"/>
                <a:ea typeface="Tahoma" panose="020B0604030504040204" pitchFamily="34" charset="0"/>
                <a:cs typeface="Tahoma" panose="020B0604030504040204" pitchFamily="34" charset="0"/>
              </a:rPr>
              <a:t>Queries?</a:t>
            </a:r>
            <a:endParaRPr lang="en-IN" sz="8000" dirty="0">
              <a:latin typeface="Algerian" panose="04020705040A02060702" pitchFamily="8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9600" y="0"/>
            <a:ext cx="1306286" cy="914399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551543" y="667657"/>
            <a:ext cx="10363200" cy="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857573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2084</TotalTime>
  <Words>1679</Words>
  <Application>Microsoft Office PowerPoint</Application>
  <PresentationFormat>Widescreen</PresentationFormat>
  <Paragraphs>278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Algerian</vt:lpstr>
      <vt:lpstr>Arial</vt:lpstr>
      <vt:lpstr>Calibri</vt:lpstr>
      <vt:lpstr>Calibri Light</vt:lpstr>
      <vt:lpstr>CircularXXWeb</vt:lpstr>
      <vt:lpstr>Times New Roman</vt:lpstr>
      <vt:lpstr>Office Theme</vt:lpstr>
      <vt:lpstr> MAJOR PROJECT DESIGN REVIEW    TITLE : BEHAVIOR-DRIVEN CUSTOMER SEGMENTATION AND CHURN PREDICTION USING HYBRID CLUSTERING AND EXPLAINABLE AI </vt:lpstr>
      <vt:lpstr>PowerPoint Presentation</vt:lpstr>
      <vt:lpstr>PowerPoint Presentation</vt:lpstr>
      <vt:lpstr>PowerPoint Presentation</vt:lpstr>
      <vt:lpstr>EXISTING SYSTEM</vt:lpstr>
      <vt:lpstr>PROPOSED SYSTEM</vt:lpstr>
      <vt:lpstr>PowerPoint Presentation</vt:lpstr>
      <vt:lpstr>OBJECTIVE </vt:lpstr>
      <vt:lpstr>ADVANTAGES OF PROPOSED SYSTEM OVER EXISTING SYSTEM</vt:lpstr>
      <vt:lpstr>PowerPoint Presentation</vt:lpstr>
      <vt:lpstr>PROJECT TIME PLAN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 Digital Sketchpad : Deep Learning in Forensic Face Sketching</dc:title>
  <dc:creator>KASABU SUNILKUMAR</dc:creator>
  <cp:lastModifiedBy>Tanishq Verma</cp:lastModifiedBy>
  <cp:revision>44</cp:revision>
  <dcterms:created xsi:type="dcterms:W3CDTF">2024-08-07T16:48:25Z</dcterms:created>
  <dcterms:modified xsi:type="dcterms:W3CDTF">2025-11-14T21:18:59Z</dcterms:modified>
</cp:coreProperties>
</file>